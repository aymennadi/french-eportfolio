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020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8269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04136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39410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1938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86674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59535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19934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71622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68275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0DB6-F5C7-45FB-8CF3-31B45F9C2DAC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40393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30126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567309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50532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0968697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44972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78735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90876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8928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489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14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71563" y="1030960"/>
            <a:ext cx="5715000" cy="1851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4974" b="1" kern="0" spc="-2" dirty="0">
                <a:solidFill>
                  <a:srgbClr val="000000"/>
                </a:solidFill>
              </a:rPr>
              <a:t>Personal &amp; Professional Project</a:t>
            </a:r>
            <a:endParaRPr lang="en-US" sz="4974" dirty="0"/>
          </a:p>
        </p:txBody>
      </p:sp>
      <p:sp>
        <p:nvSpPr>
          <p:cNvPr id="4" name="Text 1"/>
          <p:cNvSpPr/>
          <p:nvPr/>
        </p:nvSpPr>
        <p:spPr>
          <a:xfrm>
            <a:off x="1071563" y="3368362"/>
            <a:ext cx="6429375" cy="1131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333333"/>
                </a:solidFill>
              </a:rPr>
              <a:t>Architecting the Future of Digital Trust: The Creative Engineer's Manifesto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 rot="-120000">
            <a:off x="6747178" y="2388782"/>
            <a:ext cx="2500313" cy="2282428"/>
          </a:xfrm>
          <a:prstGeom prst="rect">
            <a:avLst/>
          </a:prstGeom>
          <a:solidFill>
            <a:srgbClr val="00CCFF"/>
          </a:solidFill>
          <a:ln w="27432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6" name="Text 3"/>
          <p:cNvSpPr/>
          <p:nvPr/>
        </p:nvSpPr>
        <p:spPr>
          <a:xfrm rot="-120000">
            <a:off x="6799722" y="2540760"/>
            <a:ext cx="2500313" cy="283964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Presented by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 rot="-120000">
            <a:off x="6747179" y="2804217"/>
            <a:ext cx="250031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000000"/>
                </a:solidFill>
              </a:rPr>
              <a:t>Aymen Nadi</a:t>
            </a:r>
            <a:endParaRPr lang="en-US" sz="1808" dirty="0"/>
          </a:p>
        </p:txBody>
      </p:sp>
      <p:sp>
        <p:nvSpPr>
          <p:cNvPr id="8" name="Text 5"/>
          <p:cNvSpPr/>
          <p:nvPr/>
        </p:nvSpPr>
        <p:spPr>
          <a:xfrm rot="-120000">
            <a:off x="6822280" y="3371109"/>
            <a:ext cx="2500313" cy="283964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Affiliation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 rot="-120000">
            <a:off x="6822750" y="3927217"/>
            <a:ext cx="250031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808" b="1" dirty="0">
                <a:solidFill>
                  <a:srgbClr val="000000"/>
                </a:solidFill>
              </a:rPr>
              <a:t>ENSEEIHT / ENSIAS</a:t>
            </a:r>
            <a:endParaRPr lang="en-US" sz="180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13231"/>
            <a:ext cx="87153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My IKIGAI: The Nexus of Purpose and Impact</a:t>
            </a:r>
            <a:endParaRPr lang="en-US" sz="2436" dirty="0"/>
          </a:p>
        </p:txBody>
      </p:sp>
      <p:sp>
        <p:nvSpPr>
          <p:cNvPr id="5" name="Text 1"/>
          <p:cNvSpPr/>
          <p:nvPr/>
        </p:nvSpPr>
        <p:spPr>
          <a:xfrm>
            <a:off x="3929063" y="1441893"/>
            <a:ext cx="4786313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The IKIGAI framework provides the blueprint for a sustainable and high-impact career, aligning personal drive with the critical needs of the cybersecurity landscape.</a:t>
            </a:r>
            <a:endParaRPr lang="en-US" sz="1193" dirty="0"/>
          </a:p>
        </p:txBody>
      </p:sp>
      <p:sp>
        <p:nvSpPr>
          <p:cNvPr id="6" name="Shape 2"/>
          <p:cNvSpPr/>
          <p:nvPr/>
        </p:nvSpPr>
        <p:spPr>
          <a:xfrm>
            <a:off x="3939778" y="2489792"/>
            <a:ext cx="1307306" cy="328613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7" name="Shape 3"/>
          <p:cNvSpPr/>
          <p:nvPr/>
        </p:nvSpPr>
        <p:spPr>
          <a:xfrm>
            <a:off x="5225653" y="2489792"/>
            <a:ext cx="21431" cy="32861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4"/>
          <p:cNvSpPr/>
          <p:nvPr/>
        </p:nvSpPr>
        <p:spPr>
          <a:xfrm>
            <a:off x="3939778" y="2489792"/>
            <a:ext cx="1307306" cy="32861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Dimension</a:t>
            </a:r>
            <a:endParaRPr lang="en-US" sz="885" dirty="0"/>
          </a:p>
        </p:txBody>
      </p:sp>
      <p:sp>
        <p:nvSpPr>
          <p:cNvPr id="9" name="Shape 5"/>
          <p:cNvSpPr/>
          <p:nvPr/>
        </p:nvSpPr>
        <p:spPr>
          <a:xfrm>
            <a:off x="5247084" y="2489792"/>
            <a:ext cx="3457575" cy="328613"/>
          </a:xfrm>
          <a:prstGeom prst="rect">
            <a:avLst/>
          </a:prstGeom>
          <a:solidFill>
            <a:srgbClr val="00CCFF"/>
          </a:solidFill>
          <a:ln/>
        </p:spPr>
      </p:sp>
      <p:sp>
        <p:nvSpPr>
          <p:cNvPr id="10" name="Shape 6"/>
          <p:cNvSpPr/>
          <p:nvPr/>
        </p:nvSpPr>
        <p:spPr>
          <a:xfrm>
            <a:off x="8683228" y="2489792"/>
            <a:ext cx="21431" cy="32861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7"/>
          <p:cNvSpPr/>
          <p:nvPr/>
        </p:nvSpPr>
        <p:spPr>
          <a:xfrm>
            <a:off x="5247084" y="2489792"/>
            <a:ext cx="3457575" cy="32861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Professional Alignment</a:t>
            </a:r>
            <a:endParaRPr lang="en-US" sz="885" dirty="0"/>
          </a:p>
        </p:txBody>
      </p:sp>
      <p:sp>
        <p:nvSpPr>
          <p:cNvPr id="12" name="Shape 8"/>
          <p:cNvSpPr/>
          <p:nvPr/>
        </p:nvSpPr>
        <p:spPr>
          <a:xfrm>
            <a:off x="3939778" y="2818405"/>
            <a:ext cx="1307306" cy="526461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3" name="Shape 9"/>
          <p:cNvSpPr/>
          <p:nvPr/>
        </p:nvSpPr>
        <p:spPr>
          <a:xfrm>
            <a:off x="5225653" y="2818405"/>
            <a:ext cx="21431" cy="52646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Shape 10"/>
          <p:cNvSpPr/>
          <p:nvPr/>
        </p:nvSpPr>
        <p:spPr>
          <a:xfrm>
            <a:off x="3939778" y="3337722"/>
            <a:ext cx="1307306" cy="7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" name="Text 11"/>
          <p:cNvSpPr/>
          <p:nvPr/>
        </p:nvSpPr>
        <p:spPr>
          <a:xfrm>
            <a:off x="3939778" y="2818405"/>
            <a:ext cx="1307306" cy="52646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Passion</a:t>
            </a:r>
            <a:endParaRPr lang="en-US" sz="885" dirty="0"/>
          </a:p>
        </p:txBody>
      </p:sp>
      <p:sp>
        <p:nvSpPr>
          <p:cNvPr id="16" name="Text 12"/>
          <p:cNvSpPr/>
          <p:nvPr/>
        </p:nvSpPr>
        <p:spPr>
          <a:xfrm>
            <a:off x="5247084" y="2818405"/>
            <a:ext cx="3457575" cy="52646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Solving complex architectural challenges and automating security processes.</a:t>
            </a:r>
            <a:endParaRPr lang="en-US" sz="942" dirty="0"/>
          </a:p>
        </p:txBody>
      </p:sp>
      <p:sp>
        <p:nvSpPr>
          <p:cNvPr id="17" name="Shape 13"/>
          <p:cNvSpPr/>
          <p:nvPr/>
        </p:nvSpPr>
        <p:spPr>
          <a:xfrm>
            <a:off x="3939778" y="3344866"/>
            <a:ext cx="1307306" cy="530033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8" name="Shape 14"/>
          <p:cNvSpPr/>
          <p:nvPr/>
        </p:nvSpPr>
        <p:spPr>
          <a:xfrm>
            <a:off x="5225653" y="3344866"/>
            <a:ext cx="21431" cy="53003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Shape 15"/>
          <p:cNvSpPr/>
          <p:nvPr/>
        </p:nvSpPr>
        <p:spPr>
          <a:xfrm>
            <a:off x="3939778" y="3867755"/>
            <a:ext cx="1307306" cy="7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" name="Text 16"/>
          <p:cNvSpPr/>
          <p:nvPr/>
        </p:nvSpPr>
        <p:spPr>
          <a:xfrm>
            <a:off x="3939778" y="3344866"/>
            <a:ext cx="1307306" cy="53003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Expertise</a:t>
            </a:r>
            <a:endParaRPr lang="en-US" sz="885" dirty="0"/>
          </a:p>
        </p:txBody>
      </p:sp>
      <p:sp>
        <p:nvSpPr>
          <p:cNvPr id="21" name="Text 17"/>
          <p:cNvSpPr/>
          <p:nvPr/>
        </p:nvSpPr>
        <p:spPr>
          <a:xfrm>
            <a:off x="5247084" y="3344866"/>
            <a:ext cx="3457575" cy="53003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Mastery of Cloud (AWS), DevSecOps methodologies, and Governance (GRC).</a:t>
            </a:r>
            <a:endParaRPr lang="en-US" sz="942" dirty="0"/>
          </a:p>
        </p:txBody>
      </p:sp>
      <p:sp>
        <p:nvSpPr>
          <p:cNvPr id="22" name="Shape 18"/>
          <p:cNvSpPr/>
          <p:nvPr/>
        </p:nvSpPr>
        <p:spPr>
          <a:xfrm>
            <a:off x="3939778" y="3874898"/>
            <a:ext cx="1307306" cy="530033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3" name="Shape 19"/>
          <p:cNvSpPr/>
          <p:nvPr/>
        </p:nvSpPr>
        <p:spPr>
          <a:xfrm>
            <a:off x="5225653" y="3874898"/>
            <a:ext cx="21431" cy="53003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4" name="Shape 20"/>
          <p:cNvSpPr/>
          <p:nvPr/>
        </p:nvSpPr>
        <p:spPr>
          <a:xfrm>
            <a:off x="3939778" y="4397787"/>
            <a:ext cx="1307306" cy="7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5" name="Text 21"/>
          <p:cNvSpPr/>
          <p:nvPr/>
        </p:nvSpPr>
        <p:spPr>
          <a:xfrm>
            <a:off x="3939778" y="3874898"/>
            <a:ext cx="1307306" cy="53003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World's Need</a:t>
            </a:r>
            <a:endParaRPr lang="en-US" sz="885" dirty="0"/>
          </a:p>
        </p:txBody>
      </p:sp>
      <p:sp>
        <p:nvSpPr>
          <p:cNvPr id="26" name="Text 22"/>
          <p:cNvSpPr/>
          <p:nvPr/>
        </p:nvSpPr>
        <p:spPr>
          <a:xfrm>
            <a:off x="5247084" y="3874898"/>
            <a:ext cx="3457575" cy="53003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Resilient digital infrastructures and automated compliance against evolving threats.</a:t>
            </a:r>
            <a:endParaRPr lang="en-US" sz="942" dirty="0"/>
          </a:p>
        </p:txBody>
      </p:sp>
      <p:sp>
        <p:nvSpPr>
          <p:cNvPr id="27" name="Shape 23"/>
          <p:cNvSpPr/>
          <p:nvPr/>
        </p:nvSpPr>
        <p:spPr>
          <a:xfrm>
            <a:off x="3939778" y="4404931"/>
            <a:ext cx="1307306" cy="537177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8" name="Shape 24"/>
          <p:cNvSpPr/>
          <p:nvPr/>
        </p:nvSpPr>
        <p:spPr>
          <a:xfrm>
            <a:off x="5225653" y="4404931"/>
            <a:ext cx="21431" cy="53717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9" name="Text 25"/>
          <p:cNvSpPr/>
          <p:nvPr/>
        </p:nvSpPr>
        <p:spPr>
          <a:xfrm>
            <a:off x="3939778" y="4404931"/>
            <a:ext cx="1307306" cy="537177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Vocation</a:t>
            </a:r>
            <a:endParaRPr lang="en-US" sz="885" dirty="0"/>
          </a:p>
        </p:txBody>
      </p:sp>
      <p:sp>
        <p:nvSpPr>
          <p:cNvPr id="30" name="Text 26"/>
          <p:cNvSpPr/>
          <p:nvPr/>
        </p:nvSpPr>
        <p:spPr>
          <a:xfrm>
            <a:off x="5236369" y="4404931"/>
            <a:ext cx="3468291" cy="537177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000000"/>
                </a:solidFill>
              </a:rPr>
              <a:t>Cloud Security Architect driving high-value, trust-by-design ecosystems.</a:t>
            </a:r>
            <a:endParaRPr lang="en-US" sz="942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549C534-056A-98A1-7EFE-2512C67515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90" y="1490268"/>
            <a:ext cx="3709195" cy="37091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13231"/>
            <a:ext cx="8715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Design Thinking: The Iterative Career Blueprint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607219" y="1727643"/>
            <a:ext cx="387905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Empathize &amp; Define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607219" y="2129479"/>
            <a:ext cx="3879056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Deep understanding of regulatory challenges (GDPR, NIS2) and defining the critical need for bridging technical implementation with governance strategy.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607219" y="2869555"/>
            <a:ext cx="387905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Ideate &amp; Prototype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607219" y="3271391"/>
            <a:ext cx="3879056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Exploring diverse career paths and validating them through certifications (AWS, CCNA) and hands-on projects (Secure CI/CD Pipeline).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607219" y="4011467"/>
            <a:ext cx="387905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Test &amp; Iterate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582216" y="4344860"/>
            <a:ext cx="3879056" cy="520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942" dirty="0">
                <a:solidFill>
                  <a:srgbClr val="333333"/>
                </a:solidFill>
              </a:rPr>
              <a:t>Real-world application of skills during the OCP SAFI internship, refining my professional vision against industrial reality, applied GRC in large-scale industrial environment, implemented KRIs, .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 rot="120000">
            <a:off x="5079206" y="1691924"/>
            <a:ext cx="3214688" cy="1005819"/>
          </a:xfrm>
          <a:prstGeom prst="rect">
            <a:avLst/>
          </a:prstGeom>
          <a:solidFill>
            <a:srgbClr val="000000"/>
          </a:solidFill>
          <a:ln w="36576">
            <a:solidFill>
              <a:srgbClr val="FF00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 rot="120000">
            <a:off x="4914900" y="1664912"/>
            <a:ext cx="3543299" cy="1059842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"Design Thinking is the strategy for building an agile and resilient career, not just a product."</a:t>
            </a:r>
            <a:endParaRPr lang="en-US" sz="1602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69F41C4-955A-9BA4-25B7-993FDA7DD4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4640" y="2676524"/>
            <a:ext cx="3951131" cy="26366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13231"/>
            <a:ext cx="87153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Odyssey Plan A: Cloud Security Architect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428625" y="1470468"/>
            <a:ext cx="2619384" cy="1677665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5781" y="1720500"/>
            <a:ext cx="236695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0055"/>
                </a:solidFill>
              </a:rPr>
              <a:t>Years 1 - 2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535781" y="2086617"/>
            <a:ext cx="2366953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Specialization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35781" y="2389501"/>
            <a:ext cx="2366953" cy="4821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Complete double degree (ENSEEIHT/ENSIAS) and take a solid foundations about systems and networks.</a:t>
            </a:r>
            <a:endParaRPr lang="en-US" sz="834" dirty="0"/>
          </a:p>
        </p:txBody>
      </p:sp>
      <p:sp>
        <p:nvSpPr>
          <p:cNvPr id="8" name="Shape 5"/>
          <p:cNvSpPr/>
          <p:nvPr/>
        </p:nvSpPr>
        <p:spPr>
          <a:xfrm>
            <a:off x="3224203" y="1470468"/>
            <a:ext cx="2638416" cy="1677665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50419" y="1720500"/>
            <a:ext cx="23860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0055"/>
                </a:solidFill>
              </a:rPr>
              <a:t>Years 3 - 4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3350419" y="2086617"/>
            <a:ext cx="2386013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Technical Mastery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3350419" y="2389501"/>
            <a:ext cx="238601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Cloud Security Engineer role, focusing on large-scale Zero Trust architecture deployment.</a:t>
            </a:r>
            <a:endParaRPr lang="en-US" sz="834" dirty="0"/>
          </a:p>
        </p:txBody>
      </p:sp>
      <p:sp>
        <p:nvSpPr>
          <p:cNvPr id="12" name="Shape 9"/>
          <p:cNvSpPr/>
          <p:nvPr/>
        </p:nvSpPr>
        <p:spPr>
          <a:xfrm>
            <a:off x="6057900" y="1470468"/>
            <a:ext cx="2657475" cy="1677665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03175" y="1720500"/>
            <a:ext cx="240507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0055"/>
                </a:solidFill>
              </a:rPr>
              <a:t>Year 5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6203175" y="2086617"/>
            <a:ext cx="2405072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Strategic Leadership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6203175" y="2389501"/>
            <a:ext cx="2405072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Transition to Senior Architect, leading international cloud security transformation projects.</a:t>
            </a:r>
            <a:endParaRPr lang="en-US" sz="834" dirty="0"/>
          </a:p>
        </p:txBody>
      </p:sp>
      <p:sp>
        <p:nvSpPr>
          <p:cNvPr id="16" name="Shape 13"/>
          <p:cNvSpPr/>
          <p:nvPr/>
        </p:nvSpPr>
        <p:spPr>
          <a:xfrm>
            <a:off x="428625" y="3376733"/>
            <a:ext cx="4714875" cy="1438015"/>
          </a:xfrm>
          <a:prstGeom prst="rect">
            <a:avLst/>
          </a:prstGeom>
          <a:solidFill>
            <a:srgbClr val="000000"/>
          </a:solidFill>
          <a:ln w="36576">
            <a:solidFill>
              <a:srgbClr val="FF00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1500" y="3648196"/>
            <a:ext cx="108632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0055"/>
                </a:solidFill>
              </a:rPr>
              <a:t>Success Metric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571500" y="4066105"/>
            <a:ext cx="4429125" cy="37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AWS Security Specialty Certification and technical leadership on critical infrastructure projects.</a:t>
            </a:r>
            <a:endParaRPr lang="en-US" sz="109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0" y="3376733"/>
            <a:ext cx="3286125" cy="15001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9668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92969" cy="5596682"/>
          </a:xfrm>
          <a:prstGeom prst="rect">
            <a:avLst/>
          </a:prstGeom>
          <a:solidFill>
            <a:srgbClr val="00CCFF"/>
          </a:solidFill>
          <a:ln/>
        </p:spPr>
      </p:sp>
      <p:sp>
        <p:nvSpPr>
          <p:cNvPr id="4" name="Shape 1"/>
          <p:cNvSpPr/>
          <p:nvPr/>
        </p:nvSpPr>
        <p:spPr>
          <a:xfrm>
            <a:off x="857250" y="0"/>
            <a:ext cx="35719" cy="559668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 rot="-5400000">
            <a:off x="-715240" y="2409006"/>
            <a:ext cx="2287730" cy="7786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145" b="1" kern="0" spc="4" dirty="0">
                <a:solidFill>
                  <a:srgbClr val="000000"/>
                </a:solidFill>
              </a:rPr>
              <a:t>PLAN B</a:t>
            </a:r>
            <a:endParaRPr lang="en-US" sz="4145" dirty="0"/>
          </a:p>
        </p:txBody>
      </p:sp>
      <p:sp>
        <p:nvSpPr>
          <p:cNvPr id="6" name="Text 3"/>
          <p:cNvSpPr/>
          <p:nvPr/>
        </p:nvSpPr>
        <p:spPr>
          <a:xfrm>
            <a:off x="1285875" y="658341"/>
            <a:ext cx="7429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GRC &amp; Cloud Compliance Specialist</a:t>
            </a:r>
            <a:endParaRPr lang="en-US" sz="2436" dirty="0"/>
          </a:p>
        </p:txBody>
      </p:sp>
      <p:sp>
        <p:nvSpPr>
          <p:cNvPr id="7" name="Shape 4"/>
          <p:cNvSpPr/>
          <p:nvPr/>
        </p:nvSpPr>
        <p:spPr>
          <a:xfrm>
            <a:off x="1285875" y="1286991"/>
            <a:ext cx="3714750" cy="1692287"/>
          </a:xfrm>
          <a:prstGeom prst="rect">
            <a:avLst/>
          </a:prstGeom>
          <a:solidFill>
            <a:srgbClr val="000000"/>
          </a:solidFill>
          <a:ln w="36576">
            <a:solidFill>
              <a:srgbClr val="00CC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64469" y="1594172"/>
            <a:ext cx="33575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00CCFF"/>
                </a:solidFill>
              </a:rPr>
              <a:t>Strategic Vision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1464469" y="1940644"/>
            <a:ext cx="335756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Securing digital trust through risk mastery and automated compliance orchestration.</a:t>
            </a:r>
            <a:endParaRPr lang="en-US" sz="1269" dirty="0"/>
          </a:p>
        </p:txBody>
      </p:sp>
      <p:sp>
        <p:nvSpPr>
          <p:cNvPr id="10" name="Text 7"/>
          <p:cNvSpPr/>
          <p:nvPr/>
        </p:nvSpPr>
        <p:spPr>
          <a:xfrm>
            <a:off x="1428750" y="3122154"/>
            <a:ext cx="35718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Compliance-as-Code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1428750" y="3450766"/>
            <a:ext cx="35718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Transforming tedious manual audits into real-time monitoring systems for continuous security assurance.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1428750" y="3927946"/>
            <a:ext cx="35718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NIST &amp; ISO 27001 Mastery</a:t>
            </a:r>
            <a:endParaRPr lang="en-US" sz="1090" dirty="0"/>
          </a:p>
        </p:txBody>
      </p:sp>
      <p:sp>
        <p:nvSpPr>
          <p:cNvPr id="13" name="Text 10"/>
          <p:cNvSpPr/>
          <p:nvPr/>
        </p:nvSpPr>
        <p:spPr>
          <a:xfrm>
            <a:off x="1428750" y="4256559"/>
            <a:ext cx="35718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Targeting highly regulated sectors where data sovereignty and international standards are non-negotiable.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1428750" y="4733739"/>
            <a:ext cx="35718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</a:rPr>
              <a:t>Strategic Advantage</a:t>
            </a:r>
            <a:endParaRPr lang="en-US" sz="1090" dirty="0"/>
          </a:p>
        </p:txBody>
      </p:sp>
      <p:sp>
        <p:nvSpPr>
          <p:cNvPr id="15" name="Text 12"/>
          <p:cNvSpPr/>
          <p:nvPr/>
        </p:nvSpPr>
        <p:spPr>
          <a:xfrm>
            <a:off x="1428750" y="5062351"/>
            <a:ext cx="35718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Turning regulatory requirements into a competitive lever for organizational resilience and trust.</a:t>
            </a:r>
            <a:endParaRPr lang="en-US" sz="834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4937" y="1156171"/>
            <a:ext cx="3500438" cy="235743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86375" y="3744441"/>
            <a:ext cx="3429000" cy="242888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 i="1" dirty="0">
                <a:solidFill>
                  <a:srgbClr val="000000"/>
                </a:solidFill>
              </a:rPr>
              <a:t>Critical components of a compliant Cloud Security Architecture.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4767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13231"/>
            <a:ext cx="87153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Odyssey Plan C: DevSecOps Innovation Lead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428625" y="1270443"/>
            <a:ext cx="4000500" cy="2518144"/>
          </a:xfrm>
          <a:prstGeom prst="rect">
            <a:avLst/>
          </a:prstGeom>
          <a:solidFill>
            <a:srgbClr val="00CCFF"/>
          </a:solidFill>
          <a:ln w="36576">
            <a:solidFill>
              <a:srgbClr val="00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938" y="1613343"/>
            <a:ext cx="35718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Future-Forward Vision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642938" y="2016965"/>
            <a:ext cx="3571875" cy="1257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Pioneering security integration at the core of the software lifecycle through radical automation.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428625" y="4245787"/>
            <a:ext cx="40005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AI-Driven Detection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428625" y="4608333"/>
            <a:ext cx="40005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Exploring artificial intelligence to proactively identify emerging vulnerabilities within infrastructure code.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428625" y="5554154"/>
            <a:ext cx="40005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Security-First Culture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428625" y="5916699"/>
            <a:ext cx="40005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Championing a hybrid role that bridges development and security for seamless organizational agility.</a:t>
            </a:r>
            <a:endParaRPr lang="en-US" sz="942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3469" y="1270443"/>
            <a:ext cx="3643313" cy="221456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14875" y="3599306"/>
            <a:ext cx="4000500" cy="417909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Integrating Compliance &amp; Architecture into the DevSecOps Cycle</a:t>
            </a:r>
            <a:endParaRPr lang="en-US" sz="78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5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13231"/>
            <a:ext cx="87153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International Mobility Strategy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28625" y="1413318"/>
            <a:ext cx="4800600" cy="40005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A strategic lever to gain a global perspective on security standards and exchange value with world industry leaders.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42913" y="1999106"/>
            <a:ext cx="1385888" cy="353616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6" name="Shape 3"/>
          <p:cNvSpPr/>
          <p:nvPr/>
        </p:nvSpPr>
        <p:spPr>
          <a:xfrm>
            <a:off x="1800225" y="1999106"/>
            <a:ext cx="28575" cy="35361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4"/>
          <p:cNvSpPr/>
          <p:nvPr/>
        </p:nvSpPr>
        <p:spPr>
          <a:xfrm>
            <a:off x="442913" y="1999106"/>
            <a:ext cx="1385888" cy="35361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Target Region</a:t>
            </a:r>
            <a:endParaRPr lang="en-US" sz="784" dirty="0"/>
          </a:p>
        </p:txBody>
      </p:sp>
      <p:sp>
        <p:nvSpPr>
          <p:cNvPr id="8" name="Shape 5"/>
          <p:cNvSpPr/>
          <p:nvPr/>
        </p:nvSpPr>
        <p:spPr>
          <a:xfrm>
            <a:off x="1828800" y="1999106"/>
            <a:ext cx="3386138" cy="35361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1828800" y="1999106"/>
            <a:ext cx="3386138" cy="35361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Strategic Rationale</a:t>
            </a:r>
            <a:endParaRPr lang="en-US" sz="784" dirty="0"/>
          </a:p>
        </p:txBody>
      </p:sp>
      <p:sp>
        <p:nvSpPr>
          <p:cNvPr id="10" name="Shape 7"/>
          <p:cNvSpPr/>
          <p:nvPr/>
        </p:nvSpPr>
        <p:spPr>
          <a:xfrm>
            <a:off x="442913" y="2352722"/>
            <a:ext cx="1385888" cy="537177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1" name="Shape 8"/>
          <p:cNvSpPr/>
          <p:nvPr/>
        </p:nvSpPr>
        <p:spPr>
          <a:xfrm>
            <a:off x="1800225" y="2352722"/>
            <a:ext cx="28575" cy="53717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442913" y="2875611"/>
            <a:ext cx="1385888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442913" y="2352722"/>
            <a:ext cx="1385888" cy="537177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4" b="1" dirty="0">
                <a:solidFill>
                  <a:srgbClr val="000000"/>
                </a:solidFill>
              </a:rPr>
              <a:t>North America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1828800" y="2352722"/>
            <a:ext cx="3386138" cy="537177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8" dirty="0">
                <a:solidFill>
                  <a:srgbClr val="000000"/>
                </a:solidFill>
              </a:rPr>
              <a:t>Immersion in the ecosystem of major Cloud Service Providers (CSPs) and radical innovation hubs.</a:t>
            </a:r>
            <a:endParaRPr lang="en-US" sz="888" dirty="0"/>
          </a:p>
        </p:txBody>
      </p:sp>
      <p:sp>
        <p:nvSpPr>
          <p:cNvPr id="15" name="Shape 12"/>
          <p:cNvSpPr/>
          <p:nvPr/>
        </p:nvSpPr>
        <p:spPr>
          <a:xfrm>
            <a:off x="442913" y="2889898"/>
            <a:ext cx="1385888" cy="54432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6" name="Shape 13"/>
          <p:cNvSpPr/>
          <p:nvPr/>
        </p:nvSpPr>
        <p:spPr>
          <a:xfrm>
            <a:off x="1800225" y="2889898"/>
            <a:ext cx="28575" cy="54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Shape 14"/>
          <p:cNvSpPr/>
          <p:nvPr/>
        </p:nvSpPr>
        <p:spPr>
          <a:xfrm>
            <a:off x="442913" y="3419931"/>
            <a:ext cx="1385888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5"/>
          <p:cNvSpPr/>
          <p:nvPr/>
        </p:nvSpPr>
        <p:spPr>
          <a:xfrm>
            <a:off x="442913" y="2889898"/>
            <a:ext cx="1385888" cy="54432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4" b="1" dirty="0">
                <a:solidFill>
                  <a:srgbClr val="000000"/>
                </a:solidFill>
              </a:rPr>
              <a:t>Northern Europe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1828800" y="2889898"/>
            <a:ext cx="3386138" cy="54432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8" dirty="0">
                <a:solidFill>
                  <a:srgbClr val="000000"/>
                </a:solidFill>
              </a:rPr>
              <a:t>Mastery of the world's strictest security and data protection standards (NIS2, GDPR).</a:t>
            </a:r>
            <a:endParaRPr lang="en-US" sz="888" dirty="0"/>
          </a:p>
        </p:txBody>
      </p:sp>
      <p:sp>
        <p:nvSpPr>
          <p:cNvPr id="20" name="Shape 17"/>
          <p:cNvSpPr/>
          <p:nvPr/>
        </p:nvSpPr>
        <p:spPr>
          <a:xfrm>
            <a:off x="442913" y="3434218"/>
            <a:ext cx="1385888" cy="551464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1" name="Shape 18"/>
          <p:cNvSpPr/>
          <p:nvPr/>
        </p:nvSpPr>
        <p:spPr>
          <a:xfrm>
            <a:off x="1800225" y="3434218"/>
            <a:ext cx="28575" cy="55146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Shape 19"/>
          <p:cNvSpPr/>
          <p:nvPr/>
        </p:nvSpPr>
        <p:spPr>
          <a:xfrm>
            <a:off x="442913" y="3971395"/>
            <a:ext cx="1385888" cy="142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Text 20"/>
          <p:cNvSpPr/>
          <p:nvPr/>
        </p:nvSpPr>
        <p:spPr>
          <a:xfrm>
            <a:off x="442913" y="3434218"/>
            <a:ext cx="1385888" cy="55146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4" b="1" dirty="0">
                <a:solidFill>
                  <a:srgbClr val="000000"/>
                </a:solidFill>
              </a:rPr>
              <a:t>Value Exchange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1814513" y="3434218"/>
            <a:ext cx="3400425" cy="55146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8" dirty="0">
                <a:solidFill>
                  <a:srgbClr val="000000"/>
                </a:solidFill>
              </a:rPr>
              <a:t>Bringing a dual-engineer culture and high agency to global teams while gaining world-class expertise.</a:t>
            </a:r>
            <a:endParaRPr lang="en-US" sz="888" dirty="0"/>
          </a:p>
        </p:txBody>
      </p:sp>
      <p:sp>
        <p:nvSpPr>
          <p:cNvPr id="25" name="Shape 22"/>
          <p:cNvSpPr/>
          <p:nvPr/>
        </p:nvSpPr>
        <p:spPr>
          <a:xfrm rot="-60000">
            <a:off x="5532972" y="1437658"/>
            <a:ext cx="2800350" cy="1255121"/>
          </a:xfrm>
          <a:prstGeom prst="rect">
            <a:avLst/>
          </a:prstGeom>
          <a:solidFill>
            <a:srgbClr val="FF0055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 rot="-60000">
            <a:off x="5679503" y="1585878"/>
            <a:ext cx="110008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Strategic Goal</a:t>
            </a:r>
            <a:endParaRPr lang="en-US" sz="885" dirty="0"/>
          </a:p>
        </p:txBody>
      </p:sp>
      <p:sp>
        <p:nvSpPr>
          <p:cNvPr id="27" name="Text 24"/>
          <p:cNvSpPr/>
          <p:nvPr/>
        </p:nvSpPr>
        <p:spPr>
          <a:xfrm rot="-60000">
            <a:off x="5689698" y="1974074"/>
            <a:ext cx="2857500" cy="565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Creating a sustainable value bridge between international standards and local digital sovereignty needs.</a:t>
            </a:r>
            <a:endParaRPr lang="en-US" sz="109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0707" y="2918335"/>
            <a:ext cx="3208918" cy="17932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26601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13231"/>
            <a:ext cx="87153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000000"/>
                </a:solidFill>
              </a:rPr>
              <a:t>High Agency: Proactivity &amp; Momentum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28625" y="1870518"/>
            <a:ext cx="3143250" cy="2057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94" b="1" dirty="0">
                <a:solidFill>
                  <a:srgbClr val="FF0055"/>
                </a:solidFill>
              </a:rPr>
              <a:t>Self-Direction as a Growth Engine.</a:t>
            </a:r>
            <a:endParaRPr lang="en-US" sz="3294" dirty="0"/>
          </a:p>
        </p:txBody>
      </p:sp>
      <p:sp>
        <p:nvSpPr>
          <p:cNvPr id="5" name="Text 2"/>
          <p:cNvSpPr/>
          <p:nvPr/>
        </p:nvSpPr>
        <p:spPr>
          <a:xfrm>
            <a:off x="428625" y="4156435"/>
            <a:ext cx="3143250" cy="110002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333333"/>
                </a:solidFill>
              </a:rPr>
              <a:t>The success of my Odyssey plans is underpinned by constant initiative, moving beyond the academic curriculum to build world-class field expertise.</a:t>
            </a:r>
            <a:endParaRPr lang="en-US" sz="1159" dirty="0"/>
          </a:p>
        </p:txBody>
      </p:sp>
      <p:sp>
        <p:nvSpPr>
          <p:cNvPr id="6" name="Shape 3"/>
          <p:cNvSpPr/>
          <p:nvPr/>
        </p:nvSpPr>
        <p:spPr>
          <a:xfrm>
            <a:off x="4000500" y="1413318"/>
            <a:ext cx="2250281" cy="2405630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43375" y="1684781"/>
            <a:ext cx="196453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CCFF"/>
                </a:solidFill>
              </a:rPr>
              <a:t>Certifications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4143375" y="2074115"/>
            <a:ext cx="196453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Active Pipeline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4429125" y="2475951"/>
            <a:ext cx="1678781" cy="180017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AWS Solutions Architect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4429125" y="2713118"/>
            <a:ext cx="1678781" cy="180017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Cisco CCNA (Networks)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4429125" y="2950285"/>
            <a:ext cx="1678781" cy="180017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Web PenTester (HTB)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6465094" y="1413318"/>
            <a:ext cx="2250281" cy="2405630"/>
          </a:xfrm>
          <a:prstGeom prst="rect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07969" y="1684781"/>
            <a:ext cx="196453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CCFF"/>
                </a:solidFill>
              </a:rPr>
              <a:t>Engagement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6607969" y="2074115"/>
            <a:ext cx="196453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0000"/>
                </a:solidFill>
              </a:rPr>
              <a:t>Community</a:t>
            </a:r>
            <a:endParaRPr lang="en-US" sz="1397" dirty="0"/>
          </a:p>
        </p:txBody>
      </p:sp>
      <p:sp>
        <p:nvSpPr>
          <p:cNvPr id="15" name="Text 12"/>
          <p:cNvSpPr/>
          <p:nvPr/>
        </p:nvSpPr>
        <p:spPr>
          <a:xfrm>
            <a:off x="6893719" y="2475951"/>
            <a:ext cx="1678781" cy="360034"/>
          </a:xfrm>
          <a:prstGeom prst="rect">
            <a:avLst/>
          </a:prstGeom>
          <a:noFill/>
          <a:ln/>
        </p:spPr>
        <p:txBody>
          <a:bodyPr wrap="square" lIns="8509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Tech Watch &amp; Vulnerabilities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6893719" y="2893135"/>
            <a:ext cx="1678781" cy="180017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Bug Bounty &amp; Open Source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6893719" y="3130302"/>
            <a:ext cx="1678781" cy="180017"/>
          </a:xfrm>
          <a:prstGeom prst="rect">
            <a:avLst/>
          </a:prstGeom>
          <a:noFill/>
          <a:ln/>
        </p:spPr>
        <p:txBody>
          <a:bodyPr wrap="none" lIns="8509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Global Networking</a:t>
            </a:r>
            <a:endParaRPr lang="en-US" sz="942" dirty="0"/>
          </a:p>
        </p:txBody>
      </p:sp>
      <p:sp>
        <p:nvSpPr>
          <p:cNvPr id="18" name="Shape 15"/>
          <p:cNvSpPr/>
          <p:nvPr/>
        </p:nvSpPr>
        <p:spPr>
          <a:xfrm>
            <a:off x="4000500" y="3796094"/>
            <a:ext cx="4714875" cy="2232757"/>
          </a:xfrm>
          <a:prstGeom prst="rect">
            <a:avLst/>
          </a:prstGeom>
          <a:solidFill>
            <a:srgbClr val="000000"/>
          </a:solidFill>
          <a:ln w="36576">
            <a:solidFill>
              <a:srgbClr val="FF005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14813" y="4124706"/>
            <a:ext cx="42862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CCFF"/>
                </a:solidFill>
              </a:rPr>
              <a:t>Next Crucial Step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4214813" y="4508683"/>
            <a:ext cx="428625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2" b="1" dirty="0">
                <a:solidFill>
                  <a:srgbClr val="FFFFFF"/>
                </a:solidFill>
              </a:rPr>
              <a:t>Securing a high-impact final internship in an international environment (Cloud Security / DevSecOps).</a:t>
            </a:r>
            <a:endParaRPr lang="en-US" sz="160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9E02827-B464-4C5E-931C-5E5F66EDF2A5}">
  <we:reference id="wa200003964" version="1.0.0.0" store="en-US" storeType="OMEX"/>
  <we:alternateReferences>
    <we:reference id="WA200003964" version="1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80</TotalTime>
  <Words>619</Words>
  <Application>Microsoft Office PowerPoint</Application>
  <PresentationFormat>On-screen Show (16:9)</PresentationFormat>
  <Paragraphs>92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AYMEN</cp:lastModifiedBy>
  <cp:revision>3</cp:revision>
  <dcterms:created xsi:type="dcterms:W3CDTF">2025-12-28T00:39:59Z</dcterms:created>
  <dcterms:modified xsi:type="dcterms:W3CDTF">2025-12-28T14:43:05Z</dcterms:modified>
</cp:coreProperties>
</file>